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wide_image_showing_a_3x4_grid_of_presentation_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2920"/>
            <a:ext cx="539496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143000"/>
            <a:ext cx="5120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F5B"/>
                </a:solidFill>
                <a:latin typeface="Aptos Display"/>
              </a:defRPr>
            </a:pPr>
            <a:r>
              <a:t>GERIATRIC HEALTH</a:t>
            </a:r>
            <a:br/>
            <a:r>
              <a:t>IN COMMUNITY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4937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A3039"/>
                </a:solidFill>
              </a:defRPr>
            </a:pPr>
            <a:r>
              <a:t>12-slide overview for a PSM elective posting</a:t>
            </a:r>
            <a:br/>
            <a:r>
              <a:t>based on the uploaded chat/PDF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17720"/>
            <a:ext cx="2971800" cy="566928"/>
          </a:xfrm>
          <a:prstGeom prst="round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Health Care of the Elderly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1. Introduction to Geriatrics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Core concepts, demographic transition and biological ageing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Geriatrics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37083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Branch of medicine concerned with the health, diagnosis and treatment of diseases and conditions specific to old 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73152" cy="132588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18211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154679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Gerontology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584448"/>
            <a:ext cx="4370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Scientific study of the biological, psychological and social aspects of 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526280"/>
            <a:ext cx="73152" cy="1234440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69087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66344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Elderly in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093208"/>
            <a:ext cx="4370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 person aged 60 years and above is defined as a senior citizen/elderly.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F5B"/>
                </a:solidFill>
              </a:defRPr>
            </a:pPr>
            <a:r>
              <a:t>Key demographic &amp; ageing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574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039"/>
                </a:solidFill>
                <a:latin typeface="Aptos"/>
              </a:defRPr>
            </a:pPr>
            <a:r>
              <a:t>Rapid growth of the elderly population is linked to falling birth rates and improving life expectancy.</a:t>
            </a:r>
          </a:p>
          <a:p>
            <a:pPr>
              <a:spcAft>
                <a:spcPts val="800"/>
              </a:spcAft>
              <a:defRPr sz="1500" b="0">
                <a:solidFill>
                  <a:srgbClr val="2A3039"/>
                </a:solidFill>
                <a:latin typeface="Aptos"/>
              </a:defRPr>
            </a:pPr>
            <a:r>
              <a:t>Elderly population: over 8.6%–10% of India’s total population (as stated in the source).</a:t>
            </a:r>
          </a:p>
          <a:p>
            <a:pPr>
              <a:spcAft>
                <a:spcPts val="800"/>
              </a:spcAft>
              <a:defRPr sz="1500" b="0">
                <a:solidFill>
                  <a:srgbClr val="2A3039"/>
                </a:solidFill>
                <a:latin typeface="Aptos"/>
              </a:defRPr>
            </a:pPr>
            <a:r>
              <a:t>Ageing involves structural and functional decline: ↓ GFR, ↓ cardiac output, osteopenia and sensory impairment.</a:t>
            </a:r>
          </a:p>
          <a:p>
            <a:pPr>
              <a:spcAft>
                <a:spcPts val="800"/>
              </a:spcAft>
              <a:defRPr sz="1500" b="0">
                <a:solidFill>
                  <a:srgbClr val="2A3039"/>
                </a:solidFill>
                <a:latin typeface="Aptos"/>
              </a:defRPr>
            </a:pPr>
            <a:r>
              <a:t>Reduced physiological reserve and immunity (immunosenescence).</a:t>
            </a:r>
          </a:p>
        </p:txBody>
      </p:sp>
      <p:pic>
        <p:nvPicPr>
          <p:cNvPr id="24" name="Picture 23" descr="visu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892040"/>
            <a:ext cx="3840480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2. Geriatric Health Issues &amp;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Medical, functional and psychosocial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34440"/>
          </a:xfrm>
          <a:prstGeom prst="rect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4622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Non-communicable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462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Hypertension, diabetes mellitus, IHD, stroke, osteoarthritis and COPD.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1143000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953512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26079"/>
            <a:ext cx="44622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Degenerative &amp; neurological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355848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Dementia (Alzheimer’s disease), Parkinsonism and depression.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69080"/>
            <a:ext cx="73152" cy="114300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23367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06240"/>
            <a:ext cx="44622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Sensory impairments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636008"/>
            <a:ext cx="4462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Cataract, glaucoma and presbycusis (hearing loss).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1581912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54480"/>
            <a:ext cx="4325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Geriatric syndromes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1984248"/>
            <a:ext cx="4325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Falls, urinary incontinence, frailty, sleep disorders and sarcopenia.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889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788920"/>
            <a:ext cx="73152" cy="123444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295351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2926079"/>
            <a:ext cx="4325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Social isolation &amp; loneliness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3355848"/>
            <a:ext cx="4325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Associated with nuclear family trends, widowhood and migration of children.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6052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160520"/>
            <a:ext cx="73152" cy="1417320"/>
          </a:xfrm>
          <a:prstGeom prst="rect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4325112"/>
            <a:ext cx="438912" cy="438912"/>
          </a:xfrm>
          <a:prstGeom prst="ellipse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4297680"/>
            <a:ext cx="4325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Economic dependency &amp; abuse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4727448"/>
            <a:ext cx="4325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Lack of steady income/pension and risk of physical, financial or emotional maltreatment.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3. Geriatric Health Programmes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NPHCE service-delivery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804672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9948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Sub-Centre / Ayushman Arogya Mandir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994867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Domiciliary visits by HW/CHO; supportive equipment; health education.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04872"/>
            <a:ext cx="10881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04872"/>
            <a:ext cx="73152" cy="804672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569464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542032"/>
            <a:ext cx="9948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Primary Health Centre (PHC)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71800"/>
            <a:ext cx="994867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Weekly dedicated geriatric clinic; chronic disease management; basic rehabilitation.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92424"/>
            <a:ext cx="10881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92424"/>
            <a:ext cx="73152" cy="804672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557016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529584"/>
            <a:ext cx="9948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Community Health Centre (CHC)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959352"/>
            <a:ext cx="994867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First referral unit; weekly geriatric clinic; basic physiotherapy.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79976"/>
            <a:ext cx="10881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379976"/>
            <a:ext cx="73152" cy="804672"/>
          </a:xfrm>
          <a:prstGeom prst="rect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4544568"/>
            <a:ext cx="438912" cy="438912"/>
          </a:xfrm>
          <a:prstGeom prst="ellipse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517136"/>
            <a:ext cx="9948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District Hospital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946904"/>
            <a:ext cx="994867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10-bedded dedicated geriatric ward; daily specialised OP clinic; rehabilitation.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67528"/>
            <a:ext cx="108813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67528"/>
            <a:ext cx="73152" cy="804672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" y="5532120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504688"/>
            <a:ext cx="9948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Regional Geriatric Centre / Tertiary Care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934456"/>
            <a:ext cx="994867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30-bedded geriatric ward; postgraduate education; specialty and sub-specialty clinics.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4. National Policy for Senior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Key focus areas for senior-citizen wellbeing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4892040" y="2240280"/>
            <a:ext cx="2377440" cy="1828800"/>
          </a:xfrm>
          <a:prstGeom prst="ellipse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SENIOR</a:t>
            </a:r>
            <a:br/>
            <a:r>
              <a:t>CITIZEN</a:t>
            </a:r>
            <a:br/>
            <a:r>
              <a:t>WELLBEING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2148840" cy="777240"/>
          </a:xfrm>
          <a:prstGeom prst="round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Income</a:t>
            </a:r>
            <a:br/>
            <a:r>
              <a:t>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417320"/>
            <a:ext cx="2148840" cy="777240"/>
          </a:xfrm>
          <a:prstGeom prst="roundRect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Healthcare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2148840" cy="777240"/>
          </a:xfrm>
          <a:prstGeom prst="round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Shelter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343400"/>
            <a:ext cx="2148840" cy="777240"/>
          </a:xfrm>
          <a:prstGeom prst="round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800600"/>
            <a:ext cx="2148840" cy="777240"/>
          </a:xfrm>
          <a:prstGeom prst="round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Protection of</a:t>
            </a:r>
            <a:br/>
            <a:r>
              <a:t>life &amp; property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234440"/>
            <a:ext cx="2148840" cy="777240"/>
          </a:xfrm>
          <a:prstGeom prst="round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Intergenerational</a:t>
            </a:r>
            <a:br/>
            <a:r>
              <a:t>bonding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A3039"/>
                </a:solidFill>
              </a:defRPr>
            </a:pPr>
            <a:r>
              <a:t>The source emphasises income security, healthcare, shelter, safety, protection of life and property, and intergenerational bonding.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5. NGOs Working for Geriatric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Community and institutional support described in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73736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416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HelpAge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41655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Mobile healthcare units, cataract surgeries, disaster relief and home care.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73152" cy="1737360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63931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611879"/>
            <a:ext cx="4416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Agewell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041648"/>
            <a:ext cx="441655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Advocacy, social protection and employment opportunities for older adults.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73152" cy="1737360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55080" y="1581912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554480"/>
            <a:ext cx="4416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Dignity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1984248"/>
            <a:ext cx="441655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Day-care centres, companion schemes and helpline 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74720"/>
            <a:ext cx="53492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74720"/>
            <a:ext cx="73152" cy="1737360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5080" y="3639312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611879"/>
            <a:ext cx="441655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Senior Citizens Welfare Associations &amp; AgeCare 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041648"/>
            <a:ext cx="4416551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Promote active ageing and institutional retirement homes.</a:t>
            </a:r>
          </a:p>
        </p:txBody>
      </p:sp>
      <p:pic>
        <p:nvPicPr>
          <p:cNvPr id="27" name="Picture 26" descr="visu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257800"/>
            <a:ext cx="292608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6. Working Plan for Community Geriatric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From problem identification to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389888"/>
            <a:ext cx="9784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1389888"/>
            <a:ext cx="73152" cy="749808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527048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Problem identification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56816"/>
            <a:ext cx="937260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Map distribution of people aged ≥60 years in the field area.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2532888"/>
            <a:ext cx="9784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2532888"/>
            <a:ext cx="73152" cy="749808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670048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Need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99816"/>
            <a:ext cx="937260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Assess chronic disease burden, functional disability (ADL) and financial support.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675887"/>
            <a:ext cx="9784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4480" y="3675887"/>
            <a:ext cx="73152" cy="749808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813048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Resource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242816"/>
            <a:ext cx="937260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Deploy ASHA, ANM and MPHW for doorstep assessment and referral linkages.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4818888"/>
            <a:ext cx="97840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0" y="4818888"/>
            <a:ext cx="73152" cy="749808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956048"/>
            <a:ext cx="9372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Intervention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385816"/>
            <a:ext cx="937260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Mobile clinics, NCD screening camps and assistive devices such as walking sticks/hearing aids.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7. Community Research &amp; Assessment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Study designs, ethics and standardised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3444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Cross-sectional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370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Measures prevalence of chronic conditions, disability and depression.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123444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95351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26079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Cohort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355848"/>
            <a:ext cx="4370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Explores longitudinal decline in functional capacity or cognitive deterioration.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73152" cy="1417320"/>
          </a:xfrm>
          <a:prstGeom prst="rect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325112"/>
            <a:ext cx="438912" cy="438912"/>
          </a:xfrm>
          <a:prstGeom prst="ellipse">
            <a:avLst/>
          </a:prstGeom>
          <a:solidFill>
            <a:srgbClr val="C3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976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Ethical considerations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727448"/>
            <a:ext cx="437083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Informed consent; proxy consent when appropriate; confidentiality; minimise physical discomfort.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1732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17320"/>
            <a:ext cx="73152" cy="960120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158191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5544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Socio-demographic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1984248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Age, sex, literacy, marital status, living arrangements and income/pension source.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60604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606040"/>
            <a:ext cx="73152" cy="96012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277063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274320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Katz ADL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172968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Bathing, dressing, toileting, transferring, continence and feeding.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79476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94760"/>
            <a:ext cx="73152" cy="960120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3959352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3192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Lawton IADL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361688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Telephone, shopping, food preparation, housekeeping, laundry, transport, medicines and finances.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9834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983480"/>
            <a:ext cx="73152" cy="960120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0" y="5148072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512064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GDS-15 &amp; MMSE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5550408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Depression screening with GDS-15; cognitive impairment/dementia screening with MMSE.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8. Research Paper: Introduction, Aims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Building the foundation of a community-based geriatric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182880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62763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0020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29968"/>
            <a:ext cx="437083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• Background of population ageing globally and nationally</a:t>
            </a:r>
            <a:br/>
            <a:r>
              <a:t>• Justification based on gaps in local data on morbidity or functional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3035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73152" cy="160020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73075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70332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133087"/>
            <a:ext cx="43708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Assess the health status and functional independence of elderly individuals in a rural/urban field practice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30352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73152" cy="3703320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62763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160020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029968"/>
            <a:ext cx="4370831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1. Determine prevalence of common morbidities among the elderly.</a:t>
            </a:r>
            <a:br/>
            <a:r>
              <a:t>2. Evaluate functional status using the Katz ADL scale.</a:t>
            </a:r>
            <a:br/>
            <a:r>
              <a:t>3. Frame the study around locally relevant geriatric health needs.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9. Material, Methods &amp;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A practical community-based cross-sectional study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14300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2542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Study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25420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Community-based cross-sectional study.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43200"/>
            <a:ext cx="73152" cy="114300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90779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80360"/>
            <a:ext cx="2542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Setting &amp; population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310128"/>
            <a:ext cx="25420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Field practice area; individuals aged ≥60 years residing there for ≥6 months.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69080"/>
            <a:ext cx="73152" cy="1234440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233672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06240"/>
            <a:ext cx="25420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Sampling &amp;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636008"/>
            <a:ext cx="25420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Sample size using n = Z²pq/d²; systematic random or cluster sampling; pre-tested semi-structured schedule.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14173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158191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554480"/>
            <a:ext cx="245059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Data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1984248"/>
            <a:ext cx="24505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Microsoft Excel / SPSS.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27432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2743200"/>
            <a:ext cx="73152" cy="114300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3440" y="290779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2880360"/>
            <a:ext cx="245059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Descriptive 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310128"/>
            <a:ext cx="24505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Percentages, mean and standard deviation.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0690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4069080"/>
            <a:ext cx="73152" cy="1234440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3440" y="4233672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4206240"/>
            <a:ext cx="245059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Inferential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636008"/>
            <a:ext cx="24505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Chi-square test for association; p &lt; 0.05.</a:t>
            </a:r>
          </a:p>
        </p:txBody>
      </p:sp>
      <p:sp>
        <p:nvSpPr>
          <p:cNvPr id="37" name="Trapezoid 36"/>
          <p:cNvSpPr/>
          <p:nvPr/>
        </p:nvSpPr>
        <p:spPr>
          <a:xfrm>
            <a:off x="8321040" y="1600200"/>
            <a:ext cx="2743200" cy="3566160"/>
          </a:xfrm>
          <a:prstGeom prst="trapezoid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41080" y="1828800"/>
            <a:ext cx="2103120" cy="457200"/>
          </a:xfrm>
          <a:prstGeom prst="round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Participants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2542032"/>
            <a:ext cx="2103120" cy="457200"/>
          </a:xfrm>
          <a:prstGeom prst="round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collection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3255264"/>
            <a:ext cx="2103120" cy="457200"/>
          </a:xfrm>
          <a:prstGeom prst="round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3968496"/>
            <a:ext cx="2103120" cy="457200"/>
          </a:xfrm>
          <a:prstGeom prst="round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10. Data Presentation, Discussion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Turning collected evidence into an actionable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Data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370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Present demographic attributes and morbidity prevalence using percentages, means and standard deviations.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73152" cy="132588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09067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06324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93008"/>
            <a:ext cx="4370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Compare findings with national data (LASI report) and other Indian studies, e.g., hypertension or disability prevalence.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73152" cy="1325880"/>
          </a:xfrm>
          <a:prstGeom prst="rect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599431"/>
            <a:ext cx="438912" cy="438912"/>
          </a:xfrm>
          <a:prstGeom prst="ellipse">
            <a:avLst/>
          </a:prstGeom>
          <a:solidFill>
            <a:srgbClr val="6F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57200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001768"/>
            <a:ext cx="4370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Summarise key findings, especially high disease burden and functional dependence where supported by the study.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73152" cy="1874519"/>
          </a:xfrm>
          <a:prstGeom prst="rect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1581912"/>
            <a:ext cx="438912" cy="438912"/>
          </a:xfrm>
          <a:prstGeom prst="ellipse">
            <a:avLst/>
          </a:prstGeom>
          <a:solidFill>
            <a:srgbClr val="4B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54480"/>
            <a:ext cx="4325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1984248"/>
            <a:ext cx="432511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• Strengthen outreach services under NPHCE</a:t>
            </a:r>
            <a:br/>
            <a:r>
              <a:t>• Regular screening camps at Ayushman Arogya Mandirs</a:t>
            </a:r>
            <a:br/>
            <a:r>
              <a:t>• Establish local geriatric support groups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6616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566160"/>
            <a:ext cx="73152" cy="2194560"/>
          </a:xfrm>
          <a:prstGeom prst="rect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46520" y="3730752"/>
            <a:ext cx="438912" cy="438912"/>
          </a:xfrm>
          <a:prstGeom prst="ellipse">
            <a:avLst/>
          </a:prstGeom>
          <a:solidFill>
            <a:srgbClr val="E08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3703320"/>
            <a:ext cx="4325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A good report should 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4133087"/>
            <a:ext cx="4325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Structured • Evidence-based • Analytical • Practical</a:t>
            </a:r>
            <a:br/>
            <a:br/>
            <a:r>
              <a:t>Use collected data, tables/charts and observations to identify gaps and propose feasible interventions.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F5B"/>
                </a:solidFill>
                <a:latin typeface="Aptos Display"/>
              </a:rPr>
              <a:t>11. Finalization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039"/>
                </a:solidFill>
                <a:latin typeface="Aptos"/>
              </a:defRPr>
            </a:pPr>
            <a:r>
              <a:t>Completing the logbook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2004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01400" y="320040"/>
            <a:ext cx="502920" cy="384048"/>
          </a:xfrm>
          <a:prstGeom prst="round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34440"/>
          </a:xfrm>
          <a:prstGeom prst="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81912"/>
            <a:ext cx="438912" cy="438912"/>
          </a:xfrm>
          <a:prstGeom prst="ellipse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55448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984248"/>
            <a:ext cx="4370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Use Vancouver-style formatting. The source gives: Park K. Park’s Textbook of Preventive and Social Medicine. 27th ed. Jabalpur: Banarsidas Bhanot; 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73152" cy="1234440"/>
          </a:xfrm>
          <a:prstGeom prst="rect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2999232"/>
            <a:ext cx="438912" cy="438912"/>
          </a:xfrm>
          <a:prstGeom prst="ellipse">
            <a:avLst/>
          </a:prstGeom>
          <a:solidFill>
            <a:srgbClr val="2F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7180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Finalization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01568"/>
            <a:ext cx="4370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Format the manuscript and slides for the final logbook presentation.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73152" cy="1325880"/>
          </a:xfrm>
          <a:prstGeom prst="rect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416552"/>
            <a:ext cx="438912" cy="438912"/>
          </a:xfrm>
          <a:prstGeom prst="ellipse">
            <a:avLst/>
          </a:prstGeom>
          <a:solidFill>
            <a:srgbClr val="2C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389120"/>
            <a:ext cx="437083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F5B"/>
                </a:solidFill>
              </a:defRPr>
            </a:pPr>
            <a:r>
              <a:t>Core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818888"/>
            <a:ext cx="437083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A3039"/>
                </a:solidFill>
              </a:defRPr>
            </a:pPr>
            <a:r>
              <a:t>Geriatric care requires integrated medical, functional, psychosocial and community-level support.</a:t>
            </a:r>
          </a:p>
        </p:txBody>
      </p:sp>
      <p:pic>
        <p:nvPicPr>
          <p:cNvPr id="22" name="Picture 21" descr="visu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120640" cy="4480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60" y="5715000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2F5B"/>
                </a:solidFill>
              </a:defRPr>
            </a:pPr>
            <a: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2"/>
                </a:solidFill>
              </a:defRPr>
            </a:pPr>
            <a:r>
              <a:t>PSM Elective Posting • Health Care of the Elderly (Geriatrics)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